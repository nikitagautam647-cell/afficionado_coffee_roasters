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7" r:id="rId5"/>
    <p:sldId id="259" r:id="rId6"/>
    <p:sldId id="270" r:id="rId7"/>
    <p:sldId id="260" r:id="rId8"/>
    <p:sldId id="262" r:id="rId9"/>
    <p:sldId id="268"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976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595" y="5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B976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Statement</a:t>
            </a:r>
          </a:p>
        </p:txBody>
      </p:sp>
      <p:sp>
        <p:nvSpPr>
          <p:cNvPr id="4" name="Rectangle 1"/>
          <p:cNvSpPr>
            <a:spLocks noGrp="1" noChangeArrowheads="1"/>
          </p:cNvSpPr>
          <p:nvPr>
            <p:ph idx="1"/>
          </p:nvPr>
        </p:nvSpPr>
        <p:spPr bwMode="auto">
          <a:xfrm>
            <a:off x="0" y="2377511"/>
            <a:ext cx="12192000"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2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No consolidated view of sales trends over time. </a:t>
            </a:r>
          </a:p>
          <a:p>
            <a:pPr marL="0" marR="0" lvl="0" indent="0" defTabSz="914400" rtl="0" eaLnBrk="0" fontAlgn="base" latinLnBrk="0" hangingPunct="0">
              <a:lnSpc>
                <a:spcPct val="2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Inability to clearly identify peak and off-peak sales days. </a:t>
            </a:r>
          </a:p>
          <a:p>
            <a:pPr marL="0" marR="0" lvl="0" indent="0" defTabSz="914400" rtl="0" eaLnBrk="0" fontAlgn="base" latinLnBrk="0" hangingPunct="0">
              <a:lnSpc>
                <a:spcPct val="2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Limited visibility into hourly demand patterns across different store locations. </a:t>
            </a:r>
          </a:p>
          <a:p>
            <a:pPr marL="0" marR="0" lvl="0" indent="0" defTabSz="914400" rtl="0" eaLnBrk="0" fontAlgn="base" latinLnBrk="0" hangingPunct="0">
              <a:lnSpc>
                <a:spcPct val="2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Difficulty in aligning staffing and operational resources with customer demand. </a:t>
            </a:r>
          </a:p>
          <a:p>
            <a:pPr marL="0" marR="0" lvl="0" indent="0" defTabSz="914400" rtl="0" eaLnBrk="0" fontAlgn="base" latinLnBrk="0" hangingPunct="0">
              <a:lnSpc>
                <a:spcPct val="2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Lack of actionable insights for improving overall store performance. </a:t>
            </a:r>
          </a:p>
        </p:txBody>
      </p:sp>
      <p:sp>
        <p:nvSpPr>
          <p:cNvPr id="6" name="Rectangle 5"/>
          <p:cNvSpPr/>
          <p:nvPr/>
        </p:nvSpPr>
        <p:spPr>
          <a:xfrm>
            <a:off x="8546472" y="846138"/>
            <a:ext cx="3518780" cy="4037845"/>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Dataset Overview</a:t>
            </a:r>
          </a:p>
        </p:txBody>
      </p:sp>
      <p:sp>
        <p:nvSpPr>
          <p:cNvPr id="3" name="Content Placeholder 2"/>
          <p:cNvSpPr>
            <a:spLocks noGrp="1"/>
          </p:cNvSpPr>
          <p:nvPr>
            <p:ph idx="1"/>
          </p:nvPr>
        </p:nvSpPr>
        <p:spPr>
          <a:xfrm>
            <a:off x="0" y="1837853"/>
            <a:ext cx="12192000" cy="4795305"/>
          </a:xfrm>
        </p:spPr>
        <p:txBody>
          <a:bodyPr>
            <a:normAutofit fontScale="85000" lnSpcReduction="20000"/>
          </a:bodyPr>
          <a:lstStyle/>
          <a:p>
            <a:pPr marL="0" indent="0">
              <a:buNone/>
            </a:pPr>
            <a:r>
              <a:rPr lang="en-US" dirty="0" smtClean="0"/>
              <a:t>The </a:t>
            </a:r>
            <a:r>
              <a:rPr lang="en-US" dirty="0"/>
              <a:t>dataset contains transaction-level sales data from </a:t>
            </a:r>
            <a:r>
              <a:rPr lang="en-US" b="1" dirty="0"/>
              <a:t>Afficionado Coffee Roasters (2025)</a:t>
            </a:r>
            <a:r>
              <a:rPr lang="en-US" dirty="0"/>
              <a:t>. It includes information about transaction time, product sales, store locations, quantity purchased, and revenue generated. The dataset is used to analyze sales trends, customer demand patterns, and store performance across different time periods</a:t>
            </a:r>
            <a:r>
              <a:rPr lang="en-US" dirty="0" smtClean="0"/>
              <a:t>.</a:t>
            </a:r>
          </a:p>
          <a:p>
            <a:pPr marL="0" indent="0">
              <a:buNone/>
            </a:pPr>
            <a:endParaRPr lang="en-US" dirty="0"/>
          </a:p>
          <a:p>
            <a:r>
              <a:rPr lang="en-US" b="1" dirty="0"/>
              <a:t>Key Variables:</a:t>
            </a:r>
            <a:endParaRPr lang="en-US" dirty="0"/>
          </a:p>
          <a:p>
            <a:r>
              <a:rPr lang="en-US" dirty="0"/>
              <a:t>Transaction ID &amp; Time </a:t>
            </a:r>
          </a:p>
          <a:p>
            <a:r>
              <a:rPr lang="en-US" dirty="0"/>
              <a:t>Quantity Sold </a:t>
            </a:r>
          </a:p>
          <a:p>
            <a:r>
              <a:rPr lang="en-US" dirty="0"/>
              <a:t>Unit Price &amp; Revenue </a:t>
            </a:r>
          </a:p>
          <a:p>
            <a:r>
              <a:rPr lang="en-US" dirty="0"/>
              <a:t>Store Location </a:t>
            </a:r>
          </a:p>
          <a:p>
            <a:r>
              <a:rPr lang="en-US" dirty="0"/>
              <a:t>Product Category &amp; Type</a:t>
            </a:r>
          </a:p>
          <a:p>
            <a:pPr marL="0" indent="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4443"/>
            <a:ext cx="12192000" cy="869133"/>
          </a:xfrm>
        </p:spPr>
        <p:txBody>
          <a:bodyPr>
            <a:normAutofit/>
          </a:bodyPr>
          <a:lstStyle/>
          <a:p>
            <a:r>
              <a:rPr lang="en-US" dirty="0"/>
              <a:t>Project Objectives</a:t>
            </a:r>
            <a:endParaRPr lang="en-IN" dirty="0"/>
          </a:p>
        </p:txBody>
      </p:sp>
      <p:sp>
        <p:nvSpPr>
          <p:cNvPr id="3" name="Content Placeholder 2"/>
          <p:cNvSpPr>
            <a:spLocks noGrp="1"/>
          </p:cNvSpPr>
          <p:nvPr>
            <p:ph idx="1"/>
          </p:nvPr>
        </p:nvSpPr>
        <p:spPr>
          <a:xfrm>
            <a:off x="0" y="2263366"/>
            <a:ext cx="11582400" cy="4594634"/>
          </a:xfrm>
        </p:spPr>
        <p:txBody>
          <a:bodyPr/>
          <a:lstStyle/>
          <a:p>
            <a:r>
              <a:rPr lang="en-US" dirty="0" smtClean="0"/>
              <a:t>Analyze </a:t>
            </a:r>
            <a:r>
              <a:rPr lang="en-US" dirty="0"/>
              <a:t>sales trends over time. </a:t>
            </a:r>
          </a:p>
          <a:p>
            <a:r>
              <a:rPr lang="en-US" dirty="0"/>
              <a:t>Identify peak and off-peak sales periods. </a:t>
            </a:r>
          </a:p>
          <a:p>
            <a:r>
              <a:rPr lang="en-US" dirty="0"/>
              <a:t>Evaluate store-wise performance. </a:t>
            </a:r>
          </a:p>
          <a:p>
            <a:r>
              <a:rPr lang="en-US" dirty="0"/>
              <a:t>Understand customer demand patterns. </a:t>
            </a:r>
          </a:p>
          <a:p>
            <a:r>
              <a:rPr lang="en-US" dirty="0"/>
              <a:t>Support operational planning and staffing decisions. </a:t>
            </a:r>
          </a:p>
          <a:p>
            <a:r>
              <a:rPr lang="en-US" dirty="0"/>
              <a:t>Generate actionable business insights.</a:t>
            </a:r>
          </a:p>
          <a:p>
            <a:endParaRPr lang="en-IN" dirty="0"/>
          </a:p>
        </p:txBody>
      </p:sp>
      <p:sp>
        <p:nvSpPr>
          <p:cNvPr id="4" name="Oval 3"/>
          <p:cNvSpPr/>
          <p:nvPr/>
        </p:nvSpPr>
        <p:spPr>
          <a:xfrm>
            <a:off x="7644143" y="126747"/>
            <a:ext cx="4547857" cy="4128381"/>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30820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34"/>
            <a:ext cx="10972800" cy="793671"/>
          </a:xfrm>
        </p:spPr>
        <p:txBody>
          <a:bodyPr/>
          <a:lstStyle/>
          <a:p>
            <a:r>
              <a:rPr dirty="0"/>
              <a:t>Analytical Methodology</a:t>
            </a:r>
          </a:p>
        </p:txBody>
      </p:sp>
      <p:sp>
        <p:nvSpPr>
          <p:cNvPr id="3" name="Content Placeholder 2"/>
          <p:cNvSpPr>
            <a:spLocks noGrp="1"/>
          </p:cNvSpPr>
          <p:nvPr>
            <p:ph idx="1"/>
          </p:nvPr>
        </p:nvSpPr>
        <p:spPr>
          <a:xfrm>
            <a:off x="0" y="910644"/>
            <a:ext cx="12192000" cy="5947356"/>
          </a:xfrm>
        </p:spPr>
        <p:txBody>
          <a:bodyPr>
            <a:noAutofit/>
          </a:bodyPr>
          <a:lstStyle/>
          <a:p>
            <a:pPr marL="0" indent="0">
              <a:buNone/>
            </a:pPr>
            <a:r>
              <a:rPr lang="en-US" sz="1400" b="1" dirty="0"/>
              <a:t>1. Data Collection &amp; Validation</a:t>
            </a:r>
            <a:endParaRPr lang="en-US" sz="1400" dirty="0"/>
          </a:p>
          <a:p>
            <a:pPr>
              <a:lnSpc>
                <a:spcPct val="120000"/>
              </a:lnSpc>
            </a:pPr>
            <a:r>
              <a:rPr lang="en-US" sz="1400" dirty="0"/>
              <a:t>Loaded transaction-level sales data </a:t>
            </a:r>
          </a:p>
          <a:p>
            <a:pPr>
              <a:lnSpc>
                <a:spcPct val="120000"/>
              </a:lnSpc>
            </a:pPr>
            <a:r>
              <a:rPr lang="en-US" sz="1400" dirty="0"/>
              <a:t>Checked for missing and duplicate records </a:t>
            </a:r>
            <a:endParaRPr lang="en-US" sz="1400" dirty="0" smtClean="0"/>
          </a:p>
          <a:p>
            <a:pPr marL="0" indent="0">
              <a:buNone/>
            </a:pPr>
            <a:endParaRPr lang="en-US" sz="1400" dirty="0"/>
          </a:p>
          <a:p>
            <a:pPr marL="0" indent="0">
              <a:buNone/>
            </a:pPr>
            <a:r>
              <a:rPr lang="en-US" sz="1400" b="1" dirty="0"/>
              <a:t>2. Feature Engineering</a:t>
            </a:r>
            <a:endParaRPr lang="en-US" sz="1400" dirty="0"/>
          </a:p>
          <a:p>
            <a:pPr>
              <a:lnSpc>
                <a:spcPct val="120000"/>
              </a:lnSpc>
            </a:pPr>
            <a:r>
              <a:rPr lang="en-US" sz="1400" dirty="0"/>
              <a:t>Calculated Revenue (Quantity × Unit Price) </a:t>
            </a:r>
          </a:p>
          <a:p>
            <a:pPr>
              <a:lnSpc>
                <a:spcPct val="120000"/>
              </a:lnSpc>
            </a:pPr>
            <a:r>
              <a:rPr lang="en-US" sz="1400" dirty="0"/>
              <a:t>Derived Hour, Day of Week, and Time Buckets </a:t>
            </a:r>
            <a:endParaRPr lang="en-US" sz="1400" dirty="0" smtClean="0"/>
          </a:p>
          <a:p>
            <a:pPr marL="0" indent="0">
              <a:buNone/>
            </a:pPr>
            <a:endParaRPr lang="en-US" sz="1400" dirty="0"/>
          </a:p>
          <a:p>
            <a:pPr marL="0" indent="0">
              <a:buNone/>
            </a:pPr>
            <a:r>
              <a:rPr lang="en-US" sz="1400" b="1" dirty="0"/>
              <a:t>3. Data Analysis</a:t>
            </a:r>
            <a:endParaRPr lang="en-US" sz="1400" dirty="0"/>
          </a:p>
          <a:p>
            <a:pPr>
              <a:lnSpc>
                <a:spcPct val="120000"/>
              </a:lnSpc>
            </a:pPr>
            <a:r>
              <a:rPr lang="en-US" sz="1400" dirty="0"/>
              <a:t>Sales Trend Analysis </a:t>
            </a:r>
          </a:p>
          <a:p>
            <a:pPr>
              <a:lnSpc>
                <a:spcPct val="120000"/>
              </a:lnSpc>
            </a:pPr>
            <a:r>
              <a:rPr lang="en-US" sz="1400" dirty="0"/>
              <a:t>Day-of-Week Performance Analysis </a:t>
            </a:r>
          </a:p>
          <a:p>
            <a:pPr>
              <a:lnSpc>
                <a:spcPct val="120000"/>
              </a:lnSpc>
            </a:pPr>
            <a:r>
              <a:rPr lang="en-US" sz="1400" dirty="0"/>
              <a:t>Time-of-Day Demand Analysis </a:t>
            </a:r>
          </a:p>
          <a:p>
            <a:pPr>
              <a:lnSpc>
                <a:spcPct val="120000"/>
              </a:lnSpc>
            </a:pPr>
            <a:r>
              <a:rPr lang="en-US" sz="1400" dirty="0"/>
              <a:t>Store Location Comparison </a:t>
            </a:r>
            <a:endParaRPr lang="en-US" sz="1400" dirty="0" smtClean="0"/>
          </a:p>
          <a:p>
            <a:pPr marL="0" indent="0">
              <a:buNone/>
            </a:pPr>
            <a:endParaRPr lang="en-US" sz="1400" dirty="0"/>
          </a:p>
          <a:p>
            <a:pPr marL="0" indent="0">
              <a:buNone/>
            </a:pPr>
            <a:r>
              <a:rPr lang="en-US" sz="1400" b="1" dirty="0"/>
              <a:t>4. Dashboard Development</a:t>
            </a:r>
            <a:endParaRPr lang="en-US" sz="1400" dirty="0"/>
          </a:p>
          <a:p>
            <a:pPr>
              <a:lnSpc>
                <a:spcPct val="120000"/>
              </a:lnSpc>
            </a:pPr>
            <a:r>
              <a:rPr lang="en-US" sz="1400" dirty="0"/>
              <a:t>Created interactive visualizations in Power BI </a:t>
            </a:r>
          </a:p>
          <a:p>
            <a:pPr>
              <a:lnSpc>
                <a:spcPct val="120000"/>
              </a:lnSpc>
            </a:pPr>
            <a:r>
              <a:rPr lang="en-US" sz="1400" dirty="0"/>
              <a:t>Analyzed revenue, transactions, and demand patterns </a:t>
            </a:r>
            <a:endParaRPr lang="en-US" sz="1400" dirty="0" smtClean="0"/>
          </a:p>
          <a:p>
            <a:pPr marL="0" indent="0">
              <a:buNone/>
            </a:pPr>
            <a:endParaRPr lang="en-US" sz="1400" dirty="0"/>
          </a:p>
          <a:p>
            <a:pPr marL="0" indent="0">
              <a:buNone/>
            </a:pPr>
            <a:r>
              <a:rPr lang="en-US" sz="1400" b="1" dirty="0"/>
              <a:t>5. Insight Generation</a:t>
            </a:r>
            <a:endParaRPr lang="en-US" sz="1400" dirty="0"/>
          </a:p>
          <a:p>
            <a:pPr>
              <a:lnSpc>
                <a:spcPct val="120000"/>
              </a:lnSpc>
            </a:pPr>
            <a:r>
              <a:rPr lang="en-US" sz="1400" dirty="0"/>
              <a:t>Identified peak hours and busiest days </a:t>
            </a:r>
          </a:p>
          <a:p>
            <a:pPr>
              <a:lnSpc>
                <a:spcPct val="120000"/>
              </a:lnSpc>
            </a:pPr>
            <a:r>
              <a:rPr lang="en-US" sz="1400" dirty="0"/>
              <a:t>Generated business recommendations for operational planning </a:t>
            </a:r>
          </a:p>
          <a:p>
            <a:pPr marL="0" indent="0">
              <a:buNone/>
            </a:pPr>
            <a:endParaRP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43000"/>
          </a:xfrm>
        </p:spPr>
        <p:txBody>
          <a:bodyPr/>
          <a:lstStyle/>
          <a:p>
            <a:r>
              <a:rPr b="1" dirty="0">
                <a:solidFill>
                  <a:srgbClr val="5C3317"/>
                </a:solidFill>
              </a:rPr>
              <a:t>Tools Used</a:t>
            </a:r>
          </a:p>
        </p:txBody>
      </p:sp>
      <p:sp>
        <p:nvSpPr>
          <p:cNvPr id="4" name="Rectangle 1"/>
          <p:cNvSpPr>
            <a:spLocks noGrp="1" noChangeArrowheads="1"/>
          </p:cNvSpPr>
          <p:nvPr>
            <p:ph idx="1"/>
          </p:nvPr>
        </p:nvSpPr>
        <p:spPr bwMode="auto">
          <a:xfrm>
            <a:off x="609600" y="2085774"/>
            <a:ext cx="7661072"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50000"/>
              </a:lnSpc>
              <a:spcBef>
                <a:spcPct val="0"/>
              </a:spcBef>
              <a:spcAft>
                <a:spcPct val="0"/>
              </a:spcAft>
              <a:buClrTx/>
              <a:buSzTx/>
              <a:buNone/>
              <a:tabLst/>
            </a:pPr>
            <a:r>
              <a:rPr kumimoji="0" lang="en-US" sz="1800" b="1" i="0" u="none" strike="noStrike" cap="none" normalizeH="0" baseline="0" dirty="0" smtClean="0">
                <a:ln>
                  <a:noFill/>
                </a:ln>
                <a:solidFill>
                  <a:schemeClr val="tx1"/>
                </a:solidFill>
                <a:effectLst/>
                <a:latin typeface="Arial" panose="020B0604020202020204" pitchFamily="34" charset="0"/>
              </a:rPr>
              <a:t>	</a:t>
            </a:r>
            <a:r>
              <a:rPr kumimoji="0" lang="en-US" sz="1800" b="1" i="0" u="none" strike="noStrike" cap="none" normalizeH="0" baseline="0" dirty="0" smtClean="0">
                <a:ln>
                  <a:noFill/>
                </a:ln>
                <a:solidFill>
                  <a:srgbClr val="404040"/>
                </a:solidFill>
                <a:effectLst/>
                <a:latin typeface="Arial" panose="020B0604020202020204" pitchFamily="34" charset="0"/>
              </a:rPr>
              <a:t>Microsoft Excel</a:t>
            </a:r>
            <a:r>
              <a:rPr kumimoji="0" lang="en-US" sz="1800" b="0" i="0" u="none" strike="noStrike" cap="none" normalizeH="0" baseline="0" dirty="0" smtClean="0">
                <a:ln>
                  <a:noFill/>
                </a:ln>
                <a:solidFill>
                  <a:srgbClr val="404040"/>
                </a:solidFill>
                <a:effectLst/>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 Data cleaning, formatting, and pivot analysis </a:t>
            </a:r>
          </a:p>
          <a:p>
            <a:pPr marL="0" marR="0" lvl="0" indent="0" algn="l" defTabSz="914400" rtl="0" eaLnBrk="0" fontAlgn="base" latinLnBrk="0" hangingPunct="0">
              <a:lnSpc>
                <a:spcPct val="250000"/>
              </a:lnSpc>
              <a:spcBef>
                <a:spcPct val="0"/>
              </a:spcBef>
              <a:spcAft>
                <a:spcPct val="0"/>
              </a:spcAft>
              <a:buClrTx/>
              <a:buSzTx/>
              <a:buNone/>
              <a:tabLst/>
            </a:pPr>
            <a:r>
              <a:rPr kumimoji="0" lang="en-US" sz="1800" b="1" i="0" u="none" strike="noStrike" cap="none" normalizeH="0" baseline="0" dirty="0" smtClean="0">
                <a:ln>
                  <a:noFill/>
                </a:ln>
                <a:solidFill>
                  <a:schemeClr val="tx1"/>
                </a:solidFill>
                <a:effectLst/>
                <a:latin typeface="Arial" panose="020B0604020202020204" pitchFamily="34" charset="0"/>
              </a:rPr>
              <a:t>	</a:t>
            </a:r>
            <a:r>
              <a:rPr kumimoji="0" lang="en-US" sz="1800" b="1" i="0" u="none" strike="noStrike" cap="none" normalizeH="0" baseline="0" dirty="0" smtClean="0">
                <a:ln>
                  <a:noFill/>
                </a:ln>
                <a:solidFill>
                  <a:srgbClr val="404040"/>
                </a:solidFill>
                <a:effectLst/>
                <a:latin typeface="Arial" panose="020B0604020202020204" pitchFamily="34" charset="0"/>
              </a:rPr>
              <a:t>SQL</a:t>
            </a:r>
            <a:r>
              <a:rPr kumimoji="0" lang="en-US" sz="1800" b="0" i="0" u="none" strike="noStrike" cap="none" normalizeH="0" baseline="0" dirty="0" smtClean="0">
                <a:ln>
                  <a:noFill/>
                </a:ln>
                <a:solidFill>
                  <a:schemeClr val="tx1"/>
                </a:solidFill>
                <a:effectLst/>
                <a:latin typeface="Arial" panose="020B0604020202020204" pitchFamily="34" charset="0"/>
              </a:rPr>
              <a:t> – Data querying and extraction </a:t>
            </a:r>
          </a:p>
          <a:p>
            <a:pPr marL="0" marR="0" lvl="0" indent="0" algn="l" defTabSz="914400" rtl="0" eaLnBrk="0" fontAlgn="base" latinLnBrk="0" hangingPunct="0">
              <a:lnSpc>
                <a:spcPct val="250000"/>
              </a:lnSpc>
              <a:spcBef>
                <a:spcPct val="0"/>
              </a:spcBef>
              <a:spcAft>
                <a:spcPct val="0"/>
              </a:spcAft>
              <a:buClrTx/>
              <a:buSzTx/>
              <a:buNone/>
              <a:tabLst/>
            </a:pPr>
            <a:r>
              <a:rPr kumimoji="0" lang="en-US" sz="1800" b="1" i="0" u="none" strike="noStrike" cap="none" normalizeH="0" baseline="0" dirty="0" smtClean="0">
                <a:ln>
                  <a:noFill/>
                </a:ln>
                <a:solidFill>
                  <a:schemeClr val="tx1"/>
                </a:solidFill>
                <a:effectLst/>
                <a:latin typeface="Arial" panose="020B0604020202020204" pitchFamily="34" charset="0"/>
              </a:rPr>
              <a:t>	</a:t>
            </a:r>
            <a:r>
              <a:rPr kumimoji="0" lang="en-US" sz="1800" b="1" i="0" u="none" strike="noStrike" cap="none" normalizeH="0" baseline="0" dirty="0" smtClean="0">
                <a:ln>
                  <a:noFill/>
                </a:ln>
                <a:solidFill>
                  <a:srgbClr val="404040"/>
                </a:solidFill>
                <a:effectLst/>
                <a:latin typeface="Arial" panose="020B0604020202020204" pitchFamily="34" charset="0"/>
              </a:rPr>
              <a:t>Power BI</a:t>
            </a:r>
            <a:r>
              <a:rPr kumimoji="0" lang="en-US" sz="1800" b="0" i="0" u="none" strike="noStrike" cap="none" normalizeH="0" baseline="0" dirty="0" smtClean="0">
                <a:ln>
                  <a:noFill/>
                </a:ln>
                <a:solidFill>
                  <a:srgbClr val="404040"/>
                </a:solidFill>
                <a:effectLst/>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 Dashboard creation and data visualization </a:t>
            </a:r>
          </a:p>
          <a:p>
            <a:pPr marL="0" marR="0" lvl="0" indent="0" algn="l" defTabSz="914400" rtl="0" eaLnBrk="0" fontAlgn="base" latinLnBrk="0" hangingPunct="0">
              <a:lnSpc>
                <a:spcPct val="250000"/>
              </a:lnSpc>
              <a:spcBef>
                <a:spcPct val="0"/>
              </a:spcBef>
              <a:spcAft>
                <a:spcPct val="0"/>
              </a:spcAft>
              <a:buClrTx/>
              <a:buSzTx/>
              <a:buNone/>
              <a:tabLst/>
            </a:pPr>
            <a:r>
              <a:rPr kumimoji="0" lang="en-US" sz="1800" b="1" i="0" u="none" strike="noStrike" cap="none" normalizeH="0" baseline="0" dirty="0" smtClean="0">
                <a:ln>
                  <a:noFill/>
                </a:ln>
                <a:solidFill>
                  <a:schemeClr val="tx1"/>
                </a:solidFill>
                <a:effectLst/>
                <a:latin typeface="Arial" panose="020B0604020202020204" pitchFamily="34" charset="0"/>
              </a:rPr>
              <a:t>	</a:t>
            </a:r>
            <a:r>
              <a:rPr kumimoji="0" lang="en-US" sz="1800" b="1" i="0" u="none" strike="noStrike" cap="none" normalizeH="0" baseline="0" dirty="0" smtClean="0">
                <a:ln>
                  <a:noFill/>
                </a:ln>
                <a:solidFill>
                  <a:srgbClr val="404040"/>
                </a:solidFill>
                <a:effectLst/>
                <a:latin typeface="Arial" panose="020B0604020202020204" pitchFamily="34" charset="0"/>
              </a:rPr>
              <a:t>Microsoft PowerPoint</a:t>
            </a:r>
            <a:r>
              <a:rPr kumimoji="0" lang="en-US" sz="1800" b="0" i="0" u="none" strike="noStrike" cap="none" normalizeH="0" baseline="0" dirty="0" smtClean="0">
                <a:ln>
                  <a:noFill/>
                </a:ln>
                <a:solidFill>
                  <a:srgbClr val="404040"/>
                </a:solidFill>
                <a:effectLst/>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 Presentation and reporting </a:t>
            </a:r>
          </a:p>
          <a:p>
            <a:pPr marL="0" marR="0" lvl="0" indent="0" algn="l" defTabSz="914400" rtl="0" eaLnBrk="0" fontAlgn="base" latinLnBrk="0" hangingPunct="0">
              <a:lnSpc>
                <a:spcPct val="250000"/>
              </a:lnSpc>
              <a:spcBef>
                <a:spcPct val="0"/>
              </a:spcBef>
              <a:spcAft>
                <a:spcPct val="0"/>
              </a:spcAft>
              <a:buClrTx/>
              <a:buSzTx/>
              <a:buNone/>
              <a:tabLst/>
            </a:pPr>
            <a:r>
              <a:rPr kumimoji="0" lang="en-US" sz="1800" b="1" i="0" u="none" strike="noStrike" cap="none" normalizeH="0" baseline="0" dirty="0" smtClean="0">
                <a:ln>
                  <a:noFill/>
                </a:ln>
                <a:solidFill>
                  <a:schemeClr val="tx1"/>
                </a:solidFill>
                <a:effectLst/>
                <a:latin typeface="Arial" panose="020B0604020202020204" pitchFamily="34" charset="0"/>
              </a:rPr>
              <a:t>	</a:t>
            </a:r>
            <a:r>
              <a:rPr kumimoji="0" lang="en-US" sz="1800" b="1" i="0" u="none" strike="noStrike" cap="none" normalizeH="0" baseline="0" dirty="0" smtClean="0">
                <a:ln>
                  <a:noFill/>
                </a:ln>
                <a:solidFill>
                  <a:srgbClr val="404040"/>
                </a:solidFill>
                <a:effectLst/>
                <a:latin typeface="Arial" panose="020B0604020202020204" pitchFamily="34" charset="0"/>
              </a:rPr>
              <a:t>GitHub</a:t>
            </a:r>
            <a:r>
              <a:rPr kumimoji="0" lang="en-US" sz="1800" b="0" i="0" u="none" strike="noStrike" cap="none" normalizeH="0" baseline="0" dirty="0" smtClean="0">
                <a:ln>
                  <a:noFill/>
                </a:ln>
                <a:solidFill>
                  <a:schemeClr val="tx1"/>
                </a:solidFill>
                <a:effectLst/>
                <a:latin typeface="Arial" panose="020B0604020202020204" pitchFamily="34" charset="0"/>
              </a:rPr>
              <a:t> – Project documentation and version control </a:t>
            </a:r>
          </a:p>
        </p:txBody>
      </p:sp>
      <p:sp>
        <p:nvSpPr>
          <p:cNvPr id="5" name="Rectangle 4"/>
          <p:cNvSpPr/>
          <p:nvPr/>
        </p:nvSpPr>
        <p:spPr>
          <a:xfrm>
            <a:off x="1004935" y="5078995"/>
            <a:ext cx="461727" cy="443620"/>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 name="Rectangle 5"/>
          <p:cNvSpPr/>
          <p:nvPr/>
        </p:nvSpPr>
        <p:spPr>
          <a:xfrm>
            <a:off x="1004935" y="4410859"/>
            <a:ext cx="461727" cy="44362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 name="Rectangle 6"/>
          <p:cNvSpPr/>
          <p:nvPr/>
        </p:nvSpPr>
        <p:spPr>
          <a:xfrm>
            <a:off x="1004934" y="3696355"/>
            <a:ext cx="461727" cy="44362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7"/>
          <p:cNvSpPr/>
          <p:nvPr/>
        </p:nvSpPr>
        <p:spPr>
          <a:xfrm>
            <a:off x="1004935" y="3072216"/>
            <a:ext cx="461727" cy="44362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 name="Rectangle 8"/>
          <p:cNvSpPr/>
          <p:nvPr/>
        </p:nvSpPr>
        <p:spPr>
          <a:xfrm>
            <a:off x="1004935" y="2404080"/>
            <a:ext cx="461727" cy="443620"/>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91064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088"/>
            <a:ext cx="10972800" cy="1143000"/>
          </a:xfrm>
        </p:spPr>
        <p:txBody>
          <a:bodyPr>
            <a:normAutofit fontScale="90000"/>
          </a:bodyPr>
          <a:lstStyle/>
          <a:p>
            <a:pPr lvl="0"/>
            <a:r>
              <a:rPr lang="en-IN" dirty="0"/>
              <a:t>Store &amp; Product Insights Dashboard</a:t>
            </a:r>
            <a:r>
              <a:rPr lang="en-US" dirty="0">
                <a:latin typeface="Arial" panose="020B0604020202020204" pitchFamily="34" charset="0"/>
              </a:rPr>
              <a:t/>
            </a:r>
            <a:br>
              <a:rPr lang="en-US" dirty="0">
                <a:latin typeface="Arial" panose="020B0604020202020204" pitchFamily="34" charset="0"/>
              </a:rPr>
            </a:br>
            <a:endParaRPr dirty="0"/>
          </a:p>
        </p:txBody>
      </p:sp>
      <p:pic>
        <p:nvPicPr>
          <p:cNvPr id="3" name="Picture 2" descr="Sales Trend and Time-Based Performance Analysis.jpg"/>
          <p:cNvPicPr>
            <a:picLocks noChangeAspect="1"/>
          </p:cNvPicPr>
          <p:nvPr/>
        </p:nvPicPr>
        <p:blipFill>
          <a:blip r:embed="rId2"/>
          <a:stretch>
            <a:fillRect/>
          </a:stretch>
        </p:blipFill>
        <p:spPr>
          <a:xfrm>
            <a:off x="1" y="805758"/>
            <a:ext cx="9343176" cy="6052242"/>
          </a:xfrm>
          <a:prstGeom prst="rect">
            <a:avLst/>
          </a:prstGeom>
        </p:spPr>
      </p:pic>
      <p:sp>
        <p:nvSpPr>
          <p:cNvPr id="5" name="TextBox 4"/>
          <p:cNvSpPr txBox="1"/>
          <p:nvPr/>
        </p:nvSpPr>
        <p:spPr>
          <a:xfrm>
            <a:off x="9433711" y="597529"/>
            <a:ext cx="2758289" cy="7848302"/>
          </a:xfrm>
          <a:prstGeom prst="rect">
            <a:avLst/>
          </a:prstGeom>
          <a:noFill/>
        </p:spPr>
        <p:txBody>
          <a:bodyPr wrap="square" rtlCol="0">
            <a:spAutoFit/>
          </a:bodyPr>
          <a:lstStyle/>
          <a:p>
            <a:endParaRPr lang="en-IN" dirty="0" smtClean="0"/>
          </a:p>
          <a:p>
            <a:endParaRPr lang="en-IN" dirty="0"/>
          </a:p>
          <a:p>
            <a:endParaRPr lang="en-IN" dirty="0" smtClean="0"/>
          </a:p>
          <a:p>
            <a:r>
              <a:rPr lang="en-IN" sz="2000" b="1" u="sng" dirty="0" smtClean="0"/>
              <a:t>Key Insights:-</a:t>
            </a:r>
          </a:p>
          <a:p>
            <a:endParaRPr lang="en-IN" dirty="0"/>
          </a:p>
          <a:p>
            <a:pPr marL="285750" indent="-285750">
              <a:buFont typeface="Arial" panose="020B0604020202020204" pitchFamily="34" charset="0"/>
              <a:buChar char="•"/>
            </a:pPr>
            <a:r>
              <a:rPr lang="en-US" dirty="0"/>
              <a:t>Morning contributes the highest revenue. </a:t>
            </a:r>
            <a:endParaRPr lang="en-US" dirty="0" smtClean="0"/>
          </a:p>
          <a:p>
            <a:endParaRPr lang="en-US" dirty="0" smtClean="0"/>
          </a:p>
          <a:p>
            <a:pPr marL="285750" indent="-285750">
              <a:buFont typeface="Arial" panose="020B0604020202020204" pitchFamily="34" charset="0"/>
              <a:buChar char="•"/>
            </a:pPr>
            <a:r>
              <a:rPr lang="en-US" dirty="0" smtClean="0"/>
              <a:t>Revenue </a:t>
            </a:r>
            <a:r>
              <a:rPr lang="en-US" dirty="0"/>
              <a:t>peaks during early operating hours. </a:t>
            </a:r>
            <a:endParaRPr lang="en-US" dirty="0" smtClean="0"/>
          </a:p>
          <a:p>
            <a:endParaRPr lang="en-US" dirty="0" smtClean="0"/>
          </a:p>
          <a:p>
            <a:pPr marL="285750" indent="-285750">
              <a:buFont typeface="Arial" panose="020B0604020202020204" pitchFamily="34" charset="0"/>
              <a:buChar char="•"/>
            </a:pPr>
            <a:r>
              <a:rPr lang="en-US" dirty="0" smtClean="0"/>
              <a:t>Afternoon </a:t>
            </a:r>
            <a:r>
              <a:rPr lang="en-US" dirty="0"/>
              <a:t>maintains steady sales. </a:t>
            </a:r>
            <a:endParaRPr lang="en-US" dirty="0" smtClean="0"/>
          </a:p>
          <a:p>
            <a:endParaRPr lang="en-US" dirty="0" smtClean="0"/>
          </a:p>
          <a:p>
            <a:pPr marL="285750" indent="-285750">
              <a:buFont typeface="Arial" panose="020B0604020202020204" pitchFamily="34" charset="0"/>
              <a:buChar char="•"/>
            </a:pPr>
            <a:r>
              <a:rPr lang="en-US" dirty="0" smtClean="0"/>
              <a:t>Evening </a:t>
            </a:r>
            <a:r>
              <a:rPr lang="en-US" dirty="0"/>
              <a:t>contributes the lowest share of revenue. </a:t>
            </a:r>
            <a:endParaRPr lang="en-US" dirty="0" smtClean="0"/>
          </a:p>
          <a:p>
            <a:endParaRPr lang="en-US" dirty="0" smtClean="0"/>
          </a:p>
          <a:p>
            <a:pPr marL="285750" indent="-285750">
              <a:buFont typeface="Arial" panose="020B0604020202020204" pitchFamily="34" charset="0"/>
              <a:buChar char="•"/>
            </a:pPr>
            <a:r>
              <a:rPr lang="en-US" dirty="0" smtClean="0"/>
              <a:t>All </a:t>
            </a:r>
            <a:r>
              <a:rPr lang="en-US" dirty="0"/>
              <a:t>three stores show </a:t>
            </a:r>
            <a:r>
              <a:rPr lang="en-US" dirty="0" smtClean="0"/>
              <a:t>comparable performance</a:t>
            </a:r>
            <a:r>
              <a:rPr lang="en-US" dirty="0"/>
              <a:t>. </a:t>
            </a:r>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35"/>
            <a:ext cx="12192000" cy="757456"/>
          </a:xfrm>
        </p:spPr>
        <p:txBody>
          <a:bodyPr>
            <a:normAutofit fontScale="90000"/>
          </a:bodyPr>
          <a:lstStyle/>
          <a:p>
            <a:r>
              <a:rPr lang="en-US" dirty="0"/>
              <a:t>Sales Trend &amp; Time-Based Performance Dashboard</a:t>
            </a:r>
            <a:endParaRPr dirty="0"/>
          </a:p>
        </p:txBody>
      </p:sp>
      <p:pic>
        <p:nvPicPr>
          <p:cNvPr id="3" name="Picture 2" descr="Sales Trend and Time-Based Performance Analysis 1.jpg"/>
          <p:cNvPicPr>
            <a:picLocks noChangeAspect="1"/>
          </p:cNvPicPr>
          <p:nvPr/>
        </p:nvPicPr>
        <p:blipFill>
          <a:blip r:embed="rId2"/>
          <a:stretch>
            <a:fillRect/>
          </a:stretch>
        </p:blipFill>
        <p:spPr>
          <a:xfrm>
            <a:off x="0" y="923453"/>
            <a:ext cx="9207374" cy="5934547"/>
          </a:xfrm>
          <a:prstGeom prst="rect">
            <a:avLst/>
          </a:prstGeom>
        </p:spPr>
      </p:pic>
      <p:sp>
        <p:nvSpPr>
          <p:cNvPr id="4" name="TextBox 3"/>
          <p:cNvSpPr txBox="1"/>
          <p:nvPr/>
        </p:nvSpPr>
        <p:spPr>
          <a:xfrm>
            <a:off x="9279802" y="1222217"/>
            <a:ext cx="2912198" cy="5078313"/>
          </a:xfrm>
          <a:prstGeom prst="rect">
            <a:avLst/>
          </a:prstGeom>
          <a:noFill/>
        </p:spPr>
        <p:txBody>
          <a:bodyPr wrap="square" rtlCol="0">
            <a:spAutoFit/>
          </a:bodyPr>
          <a:lstStyle/>
          <a:p>
            <a:r>
              <a:rPr lang="en-IN" b="1" u="sng" dirty="0" smtClean="0"/>
              <a:t>Key </a:t>
            </a:r>
            <a:r>
              <a:rPr lang="en-IN" b="1" u="sng" dirty="0"/>
              <a:t>Insights:-</a:t>
            </a:r>
          </a:p>
          <a:p>
            <a:endParaRPr lang="en-IN" dirty="0" smtClean="0"/>
          </a:p>
          <a:p>
            <a:pPr marL="285750" indent="-285750">
              <a:buFont typeface="Arial" panose="020B0604020202020204" pitchFamily="34" charset="0"/>
              <a:buChar char="•"/>
            </a:pPr>
            <a:r>
              <a:rPr lang="en-US" dirty="0"/>
              <a:t>Coffee is the highest revenue-generating category</a:t>
            </a:r>
            <a:r>
              <a:rPr lang="en-US" dirty="0" smtClean="0"/>
              <a:t>.</a:t>
            </a:r>
          </a:p>
          <a:p>
            <a:endParaRPr lang="en-US" dirty="0"/>
          </a:p>
          <a:p>
            <a:pPr marL="285750" indent="-285750">
              <a:buFont typeface="Arial" panose="020B0604020202020204" pitchFamily="34" charset="0"/>
              <a:buChar char="•"/>
            </a:pPr>
            <a:r>
              <a:rPr lang="en-US" dirty="0" smtClean="0"/>
              <a:t> </a:t>
            </a:r>
            <a:r>
              <a:rPr lang="en-US" dirty="0"/>
              <a:t>Tea is the second strongest category</a:t>
            </a:r>
            <a:r>
              <a:rPr lang="en-US" dirty="0" smtClean="0"/>
              <a:t>.</a:t>
            </a:r>
          </a:p>
          <a:p>
            <a:endParaRPr lang="en-US" dirty="0"/>
          </a:p>
          <a:p>
            <a:pPr marL="285750" indent="-285750">
              <a:buFont typeface="Arial" panose="020B0604020202020204" pitchFamily="34" charset="0"/>
              <a:buChar char="•"/>
            </a:pPr>
            <a:r>
              <a:rPr lang="en-US" dirty="0" smtClean="0"/>
              <a:t>Top-selling </a:t>
            </a:r>
            <a:r>
              <a:rPr lang="en-US" dirty="0"/>
              <a:t>products drive a significant share of revenue</a:t>
            </a:r>
            <a:r>
              <a:rPr lang="en-US" dirty="0" smtClean="0"/>
              <a:t>.</a:t>
            </a:r>
          </a:p>
          <a:p>
            <a:endParaRPr lang="en-US" dirty="0"/>
          </a:p>
          <a:p>
            <a:pPr marL="285750" indent="-285750">
              <a:buFont typeface="Arial" panose="020B0604020202020204" pitchFamily="34" charset="0"/>
              <a:buChar char="•"/>
            </a:pPr>
            <a:r>
              <a:rPr lang="en-US" dirty="0" smtClean="0"/>
              <a:t>Store </a:t>
            </a:r>
            <a:r>
              <a:rPr lang="en-US" dirty="0"/>
              <a:t>performance remains balanced across locations.</a:t>
            </a:r>
          </a:p>
          <a:p>
            <a:endParaRPr lang="en-IN" dirty="0" smtClean="0"/>
          </a:p>
          <a:p>
            <a:endParaRPr lang="en-IN" b="1" u="sng"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409308"/>
          </a:xfrm>
        </p:spPr>
        <p:txBody>
          <a:bodyPr>
            <a:normAutofit fontScale="90000"/>
          </a:bodyPr>
          <a:lstStyle/>
          <a:p>
            <a:r>
              <a:rPr lang="en-US" b="1" dirty="0"/>
              <a:t>Overall Insights</a:t>
            </a:r>
            <a:br>
              <a:rPr lang="en-US" b="1" dirty="0"/>
            </a:br>
            <a:endParaRPr lang="en-IN" dirty="0"/>
          </a:p>
        </p:txBody>
      </p:sp>
      <p:sp>
        <p:nvSpPr>
          <p:cNvPr id="3" name="TextBox 2"/>
          <p:cNvSpPr txBox="1"/>
          <p:nvPr/>
        </p:nvSpPr>
        <p:spPr>
          <a:xfrm>
            <a:off x="0" y="1620570"/>
            <a:ext cx="12294606" cy="397031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Morning hours generated the highest sales. </a:t>
            </a:r>
            <a:endParaRPr lang="en-US" dirty="0" smtClean="0"/>
          </a:p>
          <a:p>
            <a:pPr marL="285750" indent="-285750">
              <a:lnSpc>
                <a:spcPct val="200000"/>
              </a:lnSpc>
              <a:buFont typeface="Arial" panose="020B0604020202020204" pitchFamily="34" charset="0"/>
              <a:buChar char="•"/>
            </a:pPr>
            <a:r>
              <a:rPr lang="en-US" dirty="0" smtClean="0"/>
              <a:t>Customer </a:t>
            </a:r>
            <a:r>
              <a:rPr lang="en-US" dirty="0"/>
              <a:t>demand varied significantly across time periods. </a:t>
            </a:r>
            <a:endParaRPr lang="en-US" dirty="0" smtClean="0"/>
          </a:p>
          <a:p>
            <a:pPr marL="285750" indent="-285750">
              <a:lnSpc>
                <a:spcPct val="200000"/>
              </a:lnSpc>
              <a:buFont typeface="Arial" panose="020B0604020202020204" pitchFamily="34" charset="0"/>
              <a:buChar char="•"/>
            </a:pPr>
            <a:r>
              <a:rPr lang="en-US" dirty="0" smtClean="0"/>
              <a:t>Peak </a:t>
            </a:r>
            <a:r>
              <a:rPr lang="en-US" dirty="0"/>
              <a:t>and off-peak sales patterns were clearly identified. </a:t>
            </a:r>
            <a:endParaRPr lang="en-US" dirty="0" smtClean="0"/>
          </a:p>
          <a:p>
            <a:pPr marL="285750" indent="-285750">
              <a:lnSpc>
                <a:spcPct val="200000"/>
              </a:lnSpc>
              <a:buFont typeface="Arial" panose="020B0604020202020204" pitchFamily="34" charset="0"/>
              <a:buChar char="•"/>
            </a:pPr>
            <a:r>
              <a:rPr lang="en-US" dirty="0" smtClean="0"/>
              <a:t>Coffee </a:t>
            </a:r>
            <a:r>
              <a:rPr lang="en-US" dirty="0"/>
              <a:t>was the top-performing product category. </a:t>
            </a:r>
            <a:endParaRPr lang="en-US" dirty="0" smtClean="0"/>
          </a:p>
          <a:p>
            <a:pPr marL="285750" indent="-285750">
              <a:lnSpc>
                <a:spcPct val="200000"/>
              </a:lnSpc>
              <a:buFont typeface="Arial" panose="020B0604020202020204" pitchFamily="34" charset="0"/>
              <a:buChar char="•"/>
            </a:pPr>
            <a:r>
              <a:rPr lang="en-US" dirty="0" smtClean="0"/>
              <a:t>Store </a:t>
            </a:r>
            <a:r>
              <a:rPr lang="en-US" dirty="0"/>
              <a:t>performance remained relatively balanced. </a:t>
            </a:r>
            <a:endParaRPr lang="en-US" dirty="0" smtClean="0"/>
          </a:p>
          <a:p>
            <a:pPr marL="285750" indent="-285750">
              <a:lnSpc>
                <a:spcPct val="200000"/>
              </a:lnSpc>
              <a:buFont typeface="Arial" panose="020B0604020202020204" pitchFamily="34" charset="0"/>
              <a:buChar char="•"/>
            </a:pPr>
            <a:r>
              <a:rPr lang="en-US" dirty="0" smtClean="0"/>
              <a:t>Data-driven </a:t>
            </a:r>
            <a:r>
              <a:rPr lang="en-US" dirty="0"/>
              <a:t>insights can improve staffing and operational planning.</a:t>
            </a:r>
            <a:br>
              <a:rPr lang="en-US" dirty="0"/>
            </a:br>
            <a:endParaRPr lang="en-IN" dirty="0"/>
          </a:p>
        </p:txBody>
      </p:sp>
      <p:sp>
        <p:nvSpPr>
          <p:cNvPr id="4" name="Rectangle 3"/>
          <p:cNvSpPr/>
          <p:nvPr/>
        </p:nvSpPr>
        <p:spPr>
          <a:xfrm>
            <a:off x="7840302" y="1267485"/>
            <a:ext cx="3041964" cy="3078178"/>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95611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Recommendations</a:t>
            </a:r>
          </a:p>
        </p:txBody>
      </p:sp>
      <p:sp>
        <p:nvSpPr>
          <p:cNvPr id="3" name="Content Placeholder 2"/>
          <p:cNvSpPr>
            <a:spLocks noGrp="1"/>
          </p:cNvSpPr>
          <p:nvPr>
            <p:ph idx="1"/>
          </p:nvPr>
        </p:nvSpPr>
        <p:spPr>
          <a:xfrm>
            <a:off x="0" y="1600201"/>
            <a:ext cx="12192000" cy="5257799"/>
          </a:xfrm>
        </p:spPr>
        <p:txBody>
          <a:bodyPr>
            <a:normAutofit/>
          </a:bodyPr>
          <a:lstStyle/>
          <a:p>
            <a:pPr marL="0" indent="0">
              <a:buNone/>
            </a:pPr>
            <a:endParaRPr lang="en-US" b="1" dirty="0"/>
          </a:p>
          <a:p>
            <a:r>
              <a:rPr lang="en-US" dirty="0"/>
              <a:t>Increase staff availability during peak sales hours to improve customer service. </a:t>
            </a:r>
          </a:p>
          <a:p>
            <a:r>
              <a:rPr lang="en-US" dirty="0"/>
              <a:t>Optimize workforce scheduling based on hourly demand patterns. </a:t>
            </a:r>
          </a:p>
          <a:p>
            <a:r>
              <a:rPr lang="en-US" dirty="0"/>
              <a:t>Focus promotional activities during off-peak periods to boost sales. </a:t>
            </a:r>
          </a:p>
          <a:p>
            <a:r>
              <a:rPr lang="en-US" dirty="0"/>
              <a:t>Replicate successful sales strategies across all store locations. </a:t>
            </a:r>
          </a:p>
          <a:p>
            <a:r>
              <a:rPr lang="en-US" dirty="0"/>
              <a:t>Maintain adequate inventory for high-demand product categories. </a:t>
            </a:r>
          </a:p>
          <a:p>
            <a:r>
              <a:rPr lang="en-US" dirty="0"/>
              <a:t>Use data-driven insights for operational planning and decision-making.</a:t>
            </a:r>
          </a:p>
          <a:p>
            <a:pPr marL="0" indent="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559868"/>
            <a:ext cx="12192000" cy="5257799"/>
          </a:xfrm>
        </p:spPr>
        <p:txBody>
          <a:bodyPr/>
          <a:lstStyle/>
          <a:p>
            <a:pPr marL="0" indent="0">
              <a:buNone/>
            </a:pPr>
            <a:endParaRPr lang="en-US" dirty="0" smtClean="0"/>
          </a:p>
          <a:p>
            <a:pPr marL="0" indent="0">
              <a:buNone/>
            </a:pPr>
            <a:r>
              <a:rPr lang="en-US" dirty="0" smtClean="0"/>
              <a:t>This </a:t>
            </a:r>
            <a:r>
              <a:rPr lang="en-US" dirty="0"/>
              <a:t>analysis provided valuable insights into sales trends, customer demand patterns, and store performance at Afficionado Coffee Roasters. By identifying peak sales hours, busiest days, and location-wise demand patterns, the dashboard supports better staffing, operational planning, and data-driven decision-making. The findings can help improve overall efficiency and business performance.</a:t>
            </a:r>
            <a:endParaRPr dirty="0"/>
          </a:p>
        </p:txBody>
      </p:sp>
      <p:sp>
        <p:nvSpPr>
          <p:cNvPr id="5" name="Rectangle 4"/>
          <p:cNvSpPr/>
          <p:nvPr/>
        </p:nvSpPr>
        <p:spPr>
          <a:xfrm>
            <a:off x="3485585" y="-90534"/>
            <a:ext cx="4436198" cy="1964602"/>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45829"/>
            <a:ext cx="10972800" cy="5429046"/>
          </a:xfrm>
        </p:spPr>
        <p:txBody>
          <a:bodyPr>
            <a:noAutofit/>
          </a:bodyPr>
          <a:lstStyle/>
          <a:p>
            <a:r>
              <a:rPr sz="9600"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73</TotalTime>
  <Words>505</Words>
  <Application>Microsoft Office PowerPoint</Application>
  <PresentationFormat>Widescreen</PresentationFormat>
  <Paragraphs>99</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Problem Statement</vt:lpstr>
      <vt:lpstr>Dataset Overview</vt:lpstr>
      <vt:lpstr>Project Objectives</vt:lpstr>
      <vt:lpstr>Analytical Methodology</vt:lpstr>
      <vt:lpstr>Tools Used</vt:lpstr>
      <vt:lpstr>Store &amp; Product Insights Dashboard </vt:lpstr>
      <vt:lpstr>Sales Trend &amp; Time-Based Performance Dashboard</vt:lpstr>
      <vt:lpstr>Overall Insights </vt:lpstr>
      <vt:lpstr>Business Recommendations</vt:lpstr>
      <vt:lpstr>PowerPoint Presentation</vt:lpstr>
      <vt:lpstr>Thank You</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Admin</cp:lastModifiedBy>
  <cp:revision>11</cp:revision>
  <dcterms:created xsi:type="dcterms:W3CDTF">2013-01-27T09:14:16Z</dcterms:created>
  <dcterms:modified xsi:type="dcterms:W3CDTF">2026-06-11T17:46:45Z</dcterms:modified>
  <cp:category/>
</cp:coreProperties>
</file>